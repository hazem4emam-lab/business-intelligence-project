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64" r:id="rId11"/>
    <p:sldId id="276" r:id="rId12"/>
    <p:sldId id="265" r:id="rId13"/>
    <p:sldId id="273" r:id="rId14"/>
    <p:sldId id="266" r:id="rId15"/>
    <p:sldId id="272" r:id="rId16"/>
    <p:sldId id="267" r:id="rId17"/>
    <p:sldId id="271" r:id="rId18"/>
    <p:sldId id="268" r:id="rId19"/>
    <p:sldId id="26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notesMaster" Target="notesMasters/notesMaster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Intelligence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Data Analytics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Warehousing Project — Final Presentation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24688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CD7F32">
              <a:alpha val="70000"/>
            </a:srgbClr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478024"/>
            <a:ext cx="128016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🥉 Bronze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86100" y="24460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A8A9AD">
              <a:alpha val="70000"/>
            </a:srgbClr>
          </a:solidFill>
          <a:ln w="12700">
            <a:solidFill>
              <a:srgbClr val="A8A9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6100" y="2478659"/>
            <a:ext cx="128016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🥈 Silver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24688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B8860B">
              <a:alpha val="70000"/>
            </a:srgbClr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0620" y="2478659"/>
            <a:ext cx="128016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🥇 Gold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24688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478024"/>
            <a:ext cx="128016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31546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Team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4564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Youssef Hassan   ·   Ali Mohamed   ·   Omar Samer   ·   Bahaa Ahmed   ·   Hazem Adel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6732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Instructor: Dr. Shaimaa Masry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Medallion Architecture  |  Microsoft SQL Server  |  Power BI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Medallion Architecture — Bronze → Silver → Gold → Power 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fully functional retail data warehouse ingesting 19 CSV source files from CRM and ERP systems, processed through three data quality layers and surfaced in an interactive Power BI dashboard.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874520"/>
            <a:ext cx="1554480" cy="12801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1938528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" y="235000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CSV Files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262432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CRM + ERP Sources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64792" y="2496312"/>
            <a:ext cx="402336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40487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0" y="1874520"/>
            <a:ext cx="1554480" cy="1280160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11680" y="1938528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🥉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0" y="235000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Bronze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262432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Ingestion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93592" y="2496312"/>
            <a:ext cx="402336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40487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1874520"/>
            <a:ext cx="1554480" cy="1280160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0" y="1938528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🥈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840480" y="235000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Silver Layer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262432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Cleansed &amp; Typed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22392" y="2496312"/>
            <a:ext cx="402336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40487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1874520"/>
            <a:ext cx="1554480" cy="1280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0" y="1938528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🥇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69280" y="235000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Gold Layer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262432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 Schemas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51192" y="2496312"/>
            <a:ext cx="402336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240487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98080" y="1874520"/>
            <a:ext cx="155448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98080" y="1938528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98080" y="235000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262432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2880" y="3364992"/>
            <a:ext cx="1609344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3410712"/>
            <a:ext cx="16093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82880" y="3749040"/>
            <a:ext cx="16093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Tables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975104" y="3364992"/>
            <a:ext cx="1609344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75104" y="3410712"/>
            <a:ext cx="16093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975104" y="3749040"/>
            <a:ext cx="16093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 Tables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67328" y="3364992"/>
            <a:ext cx="1609344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67328" y="3410712"/>
            <a:ext cx="16093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767328" y="3749040"/>
            <a:ext cx="16093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Dimension Tables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59552" y="3364992"/>
            <a:ext cx="1609344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59552" y="3410712"/>
            <a:ext cx="16093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Galaxy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559552" y="3749040"/>
            <a:ext cx="16093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Design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51776" y="3364992"/>
            <a:ext cx="1609344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51776" y="3410712"/>
            <a:ext cx="16093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Server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51776" y="3749040"/>
            <a:ext cx="16093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425196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Platform: Microsoft SQL Server   |   Load Strategy: Batch Processing, Full Load, TRUNCATE &amp; BULK/INSERT   |   19 total source files: 4,000 customers, 6,000 POS transactions, 3,000 online orders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🥉 Bronze Layer — Raw Data Ingestion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tier: immutable audit trail of all source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24128"/>
            <a:ext cx="4206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24128"/>
            <a:ext cx="4206240" cy="25603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42416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 &amp; Approach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Ingests all 19 CSV files into SQL Server with ZERO transformations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64592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columns stored as NVARCHAR — preserving the raw format exactly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Load strategy: TRUNCATE then BULK INSERT on every run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19456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Acts as an immutable audit trail for source data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46888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Stored procedure: bronze.load_bronze automates all loading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74320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table: bronze.load_log records row counts, timestamps &amp; status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024128"/>
            <a:ext cx="43891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24128"/>
            <a:ext cx="4389120" cy="25603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4241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Bronze Tables — Source Categories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137160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CRM Tables (8)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160020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customers, employees, online_orders, online_order_items, payments, deliveries, delivery_providers + more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210312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ERP Tables (11)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233172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products, brands, departments, stores, warehouses, suppliers, product_suppliers, promotions, registers, pos_transactions, transaction_items, inventory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3200400"/>
            <a:ext cx="1609344" cy="74980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3246120"/>
            <a:ext cx="160934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" y="3566160"/>
            <a:ext cx="1609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35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Tables Created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75104" y="3200400"/>
            <a:ext cx="1609344" cy="74980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75104" y="3246120"/>
            <a:ext cx="160934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BULK INSERT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975104" y="3566160"/>
            <a:ext cx="1609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35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Method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67328" y="3200400"/>
            <a:ext cx="1609344" cy="74980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67328" y="3246120"/>
            <a:ext cx="160934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67328" y="3566160"/>
            <a:ext cx="1609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35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Transformations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59552" y="3200400"/>
            <a:ext cx="1609344" cy="74980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3246120"/>
            <a:ext cx="160934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NVARCHAR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59552" y="3566160"/>
            <a:ext cx="1609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35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Types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51776" y="3200400"/>
            <a:ext cx="1609344" cy="74980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51776" y="3246120"/>
            <a:ext cx="160934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Stored Procedure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51776" y="3566160"/>
            <a:ext cx="1609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35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114800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Schema: bronze   |   All data preserved exactly as received — no filtering, no type casting, no cleansing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🥈 Silver Layer — Cleansing &amp; Transformation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Second tier: typed, standardised, enriched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24128"/>
            <a:ext cx="4206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24128"/>
            <a:ext cx="4206240" cy="25603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42416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Transformations Applied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777240" cy="274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716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TRY_CAST()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0432" y="138988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columns cast to proper types (INT, DATE, DATETIME, DECIMAL)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837944"/>
            <a:ext cx="777240" cy="274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3794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TRIM()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70432" y="185623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Leading/trailing whitespace removed from all text fields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304288"/>
            <a:ext cx="777240" cy="274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0428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LOWER()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70432" y="2322576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Emails standardised to lowercase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770632"/>
            <a:ext cx="777240" cy="274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77063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CASE WHEN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70432" y="278892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 &amp; Order_Status normalised to consistent values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236976"/>
            <a:ext cx="777240" cy="274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3697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ISNULL()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70432" y="325526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NULL Package_Size replaced with 'N/A'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703320"/>
            <a:ext cx="777240" cy="274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0332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WHERE filter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70432" y="372160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Rows with NULL/blank primary keys excluded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1024128"/>
            <a:ext cx="43891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024128"/>
            <a:ext cx="4389120" cy="25603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04241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Derived Columns Added in Silver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137160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customers.Full_Name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69480" y="138988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TRIM(First_Name) + ' ' + TRIM(Last_Name)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09160" y="171907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order_items.Total_Line_Amount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69480" y="173736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Quantity × Unit_Price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09160" y="206654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transaction_items.Total_Line_Amount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69480" y="208483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Quantity × Unit_Price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09160" y="241401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deliveries.Delivery_Days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69480" y="2432304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DATEDIFF(DAY, Ship_Date, Delivery_Date)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09160" y="276148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promotions.Duration_Days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69480" y="2779776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DATEDIFF(DAY, Start_Date, End_Date)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0" y="3200400"/>
            <a:ext cx="4389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0" y="3200400"/>
            <a:ext cx="4389120" cy="25603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218688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Specifications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349300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Schema: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49240" y="349300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silver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12280" y="349300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Tables: 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52360" y="349300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(mirrors Bronze)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09160" y="376732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Procedure: 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49240" y="376732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silver.load_silver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12280" y="376732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52360" y="376732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bronze schema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4206240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Silver retains the operational structure — no star schema reshaping. That is reserved for Gold.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🥇 Gold Layer — Galaxy Schema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Kimball dimensional modelling: 2 Star Schemas + 4 Conformed Dimensions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0058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GALAXY SCHEMA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1920240" cy="38404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2588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dim_date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1920240" cy="38404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32588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dim_customer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325880"/>
            <a:ext cx="1920240" cy="38404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32588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dim_product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66560" y="1325880"/>
            <a:ext cx="1920240" cy="38404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32588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dim_promotion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1755648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886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Conformed Dimensions — shared by BOTH fact tables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2103120"/>
            <a:ext cx="4023360" cy="224028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4884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⭐ Star Schema 1 — Store Sales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0120" y="2496312"/>
            <a:ext cx="2377440" cy="4114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249631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fact_store_sales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2953512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Measures: Quantity · Unit_Price · Sales_Amount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Grain: one row per POS transaction line item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383280"/>
            <a:ext cx="173736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38328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65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dim_store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40280" y="3383280"/>
            <a:ext cx="173736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338328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65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dim_employee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712464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Schema-specific dims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37760" y="2103120"/>
            <a:ext cx="4023360" cy="224028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14884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⭐ Star Schema 2 — Online Sales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06440" y="2496312"/>
            <a:ext cx="23774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06440" y="249631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fact_online_sales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4920" y="2953512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Measures: Quantity · Unit_Price · Sales_Amount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Grain: one row per online order line item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74920" y="3383280"/>
            <a:ext cx="1207008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383280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dim_warehouse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373368" y="3383280"/>
            <a:ext cx="1207008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3368" y="3383280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dim_order_status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671816" y="3383280"/>
            <a:ext cx="1207008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71816" y="3383280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dim_payment_method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74920" y="3712464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Schema-specific dims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4416552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Gold tables total · Surrogate keys (IDENTITY) on all dims · FK constraints enforced · gold.load_gold stored procedure · 14,962 store line items · 7,151 online line items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🥇 Gold Layer — Table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11 tables, their type, usage, and approx. row counts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27432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875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Name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17520" y="987552"/>
            <a:ext cx="19202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9875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83480" y="987552"/>
            <a:ext cx="19202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9875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By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949440" y="987552"/>
            <a:ext cx="18288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98755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 Count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1289304"/>
            <a:ext cx="27432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" y="1325880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gold.dim_date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17520" y="1289304"/>
            <a:ext cx="1920240" cy="329184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132588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Conformed Dimension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83480" y="1289304"/>
            <a:ext cx="192024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132588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Schemas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49440" y="1289304"/>
            <a:ext cx="18288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132588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Derived from dates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1636776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167335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gold.dim_customer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017520" y="1636776"/>
            <a:ext cx="1920240" cy="329184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16733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Conformed Dimension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83480" y="1636776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16733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Schemas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49440" y="1636776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22592" y="167335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4,000 rows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1984248"/>
            <a:ext cx="27432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" y="2020824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gold.dim_product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017520" y="1984248"/>
            <a:ext cx="1920240" cy="329184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90672" y="202082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Conformed Dimension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83480" y="1984248"/>
            <a:ext cx="192024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56632" y="202082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Schemas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49440" y="1984248"/>
            <a:ext cx="18288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202082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 rows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2331720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2368296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gold.dim_promotion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017520" y="2331720"/>
            <a:ext cx="1920240" cy="329184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90672" y="236829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Conformed Dimension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83480" y="2331720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56632" y="236829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Schemas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49440" y="2331720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22592" y="236829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120 rows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" y="2679192"/>
            <a:ext cx="27432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" y="2715768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gold.dim_store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017520" y="2679192"/>
            <a:ext cx="1920240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90672" y="271576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1 Dimension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83480" y="2679192"/>
            <a:ext cx="192024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56632" y="271576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fact_store_sales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949440" y="2679192"/>
            <a:ext cx="18288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22592" y="271576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 rows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28600" y="3026664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1752" y="3063240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gold.dim_employee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017520" y="3026664"/>
            <a:ext cx="1920240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90672" y="30632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1 Dimension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983480" y="3026664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56632" y="30632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fact_store_sales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949440" y="3026664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22592" y="30632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800 rows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28600" y="3374136"/>
            <a:ext cx="27432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1752" y="341071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gold.dim_warehouse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017520" y="3374136"/>
            <a:ext cx="1920240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90672" y="34107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2 Dimension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983480" y="3374136"/>
            <a:ext cx="192024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56632" y="34107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fact_online_sales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949440" y="3374136"/>
            <a:ext cx="18288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22592" y="341071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rows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28600" y="3721608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01752" y="3758184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gold.dim_order_status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017520" y="3721608"/>
            <a:ext cx="1920240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90672" y="375818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2 Dimension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983480" y="3721608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56632" y="375818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fact_online_sales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949440" y="3721608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22592" y="375818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statuses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28600" y="4069080"/>
            <a:ext cx="27432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01752" y="4105656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gold.dim_payment_method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017520" y="4069080"/>
            <a:ext cx="1920240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090672" y="410565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2 Dimension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983480" y="4069080"/>
            <a:ext cx="192024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56632" y="410565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fact_online_sales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949440" y="4069080"/>
            <a:ext cx="18288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022592" y="410565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Derived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228600" y="4416552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01752" y="4453128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gold.fact_store_sales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017520" y="4416552"/>
            <a:ext cx="1920240" cy="329184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090672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 Table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983480" y="4416552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056632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 Schema 1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949440" y="4416552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022592" y="445312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14,962 line items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28600" y="4764024"/>
            <a:ext cx="27432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01752" y="4800600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gold.fact_online_sales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3017520" y="4764024"/>
            <a:ext cx="1920240" cy="329184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090672" y="48006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 Table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983480" y="4764024"/>
            <a:ext cx="192024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056632" y="48006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 Schema 2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949440" y="4764024"/>
            <a:ext cx="18288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022592" y="480060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7,151 line items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365760" y="5056632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order: TRUNCATE facts → DELETE dims → INSERT dims → INSERT facts   |   Surrogate keys: IDENTITY(1,1) on all dimensions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Power BI Dashboard — Overview &amp; User Personas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Multi-channel retail analytics · 5 pages · 5 personas · 25 business questions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1581912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987552"/>
            <a:ext cx="1581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1325880"/>
            <a:ext cx="15819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47672" y="960120"/>
            <a:ext cx="1581912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47672" y="987552"/>
            <a:ext cx="1581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47672" y="1325880"/>
            <a:ext cx="15819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12464" y="960120"/>
            <a:ext cx="1581912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12464" y="987552"/>
            <a:ext cx="1581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12464" y="1325880"/>
            <a:ext cx="15819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77256" y="960120"/>
            <a:ext cx="1581912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77256" y="987552"/>
            <a:ext cx="1581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77256" y="1325880"/>
            <a:ext cx="15819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KPIs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242048" y="960120"/>
            <a:ext cx="1581912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42048" y="987552"/>
            <a:ext cx="1581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42048" y="1325880"/>
            <a:ext cx="15819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Cross-Schema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1847088"/>
            <a:ext cx="158191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1847088"/>
            <a:ext cx="158191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1865376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💼 Alex Chen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37744" y="2139696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Director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7744" y="2414016"/>
            <a:ext cx="14630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vs goals, channel trends, regional performance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947672" y="1847088"/>
            <a:ext cx="158191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947672" y="1847088"/>
            <a:ext cx="158191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02536" y="1865376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🏪 Jordan Rivera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002536" y="2139696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Ops Manager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02536" y="2414016"/>
            <a:ext cx="14630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metrics, dept revenue, employee productivity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12464" y="1847088"/>
            <a:ext cx="158191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12464" y="1847088"/>
            <a:ext cx="158191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7328" y="1865376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 Priya Nair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767328" y="2139696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E-Commerce &amp; Fulfilment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67328" y="2414016"/>
            <a:ext cx="14630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Delivery rates, warehouses, payment methods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77256" y="1847088"/>
            <a:ext cx="158191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77256" y="1847088"/>
            <a:ext cx="158191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1865376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👥 Morgan Lee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32120" y="2139696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Insights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532120" y="2414016"/>
            <a:ext cx="14630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Loyalty tiers, top customers, geography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242048" y="1847088"/>
            <a:ext cx="158191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42048" y="1847088"/>
            <a:ext cx="158191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96912" y="1865376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📣 Sam Patel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96912" y="2139696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Marketing &amp; Promotions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296912" y="2414016"/>
            <a:ext cx="14630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Promo lift, discount correlation, channel comparison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4320" y="431596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Cross-schema = 24% of all business questions (6/25) — requiring DAX measures that span both fact tables. Satisfies the minimum 3–4 requirement.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Page 1 — Sales Performance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Audience: Alex Chen (Sales Director) · Cross-schema: ★ YES (multiple)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877824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Purpose: High-level combined revenue view across store &amp; online channels — goal tracking, regional map, and channel split.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1691640"/>
            <a:ext cx="2697480" cy="2468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1691640"/>
            <a:ext cx="2606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Visualisation / KPI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1691640"/>
            <a:ext cx="5029200" cy="2468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2384" y="1691640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Question Answered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138160" y="1691640"/>
            <a:ext cx="822960" cy="2468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1691640"/>
            <a:ext cx="7315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Cross-Schema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1975104"/>
            <a:ext cx="269748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1975104"/>
            <a:ext cx="50292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975104"/>
            <a:ext cx="82296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2020824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Transactions KPI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090672" y="202082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Q1: How many transactions occurred vs. goal?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11312" y="202082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322576"/>
            <a:ext cx="2697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2322576"/>
            <a:ext cx="5029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2322576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2368296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Online Revenue KPI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90672" y="2368296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Q3: What is total online revenue vs. goal?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11312" y="2368296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670048"/>
            <a:ext cx="269748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2670048"/>
            <a:ext cx="50292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670048"/>
            <a:ext cx="82296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271576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Store Revenue KPI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90672" y="271576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Q3: What is total store revenue vs. goal?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11312" y="271576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017520"/>
            <a:ext cx="2697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3017520"/>
            <a:ext cx="5029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3017520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" y="306324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Combined Revenue KPI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090672" y="3063240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 (Alex): What is our total combined revenue vs. goal this period?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11312" y="3063240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3364992"/>
            <a:ext cx="269748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17520" y="3364992"/>
            <a:ext cx="50292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3364992"/>
            <a:ext cx="82296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3410712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Trend by Month (Line)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090672" y="3410712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 ★: How does store revenue compare to online revenue over time?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11312" y="3410712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YES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3712464"/>
            <a:ext cx="2697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17520" y="3712464"/>
            <a:ext cx="5029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3712464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" y="3758184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Revenue Map (State &amp; Region)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090672" y="375818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 (Alex): Which U.S. regions generate the most store revenue?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11312" y="375818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4059936"/>
            <a:ext cx="269748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17520" y="4059936"/>
            <a:ext cx="50292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38160" y="4059936"/>
            <a:ext cx="82296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1752" y="4105656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Revenue vs Goal (Gauge)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090672" y="4105656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 (Alex): How close are we to the overall revenue goal?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211312" y="4105656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4407408"/>
            <a:ext cx="2697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17520" y="4407408"/>
            <a:ext cx="5029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38160" y="4407408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1752" y="445312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vs Online Donut Chart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090672" y="445312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 ★: What is the store vs. online revenue split?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211312" y="445312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YES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473646" y="197353"/>
            <a:ext cx="8334854" cy="4657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8858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Page 2 — Store Sales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Audience: Jordan Rivera (Store Ops Manager) · Cross-schema: ★ 2 questions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877824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Purpose: Detailed store-level metrics — department revenue breakdown, employee productivity rankings, regional analysis, and time intelligence (YTD, MoM, vs. prior year).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1691640"/>
            <a:ext cx="2697480" cy="24688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1691640"/>
            <a:ext cx="2606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Visualisation / KPI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1691640"/>
            <a:ext cx="5029200" cy="24688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2384" y="1691640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Question Answered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138160" y="1691640"/>
            <a:ext cx="822960" cy="24688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1691640"/>
            <a:ext cx="7315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Cross-Schema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1975104"/>
            <a:ext cx="269748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1975104"/>
            <a:ext cx="50292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975104"/>
            <a:ext cx="82296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2029968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Revenue YTD KPI Card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090672" y="2029968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Q5: How does store YTD compare to goal? | Q4 ★: Trending above/below goal?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11312" y="2029968"/>
            <a:ext cx="685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YES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350008"/>
            <a:ext cx="26974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2350008"/>
            <a:ext cx="50292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2350008"/>
            <a:ext cx="8229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2404872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MoM % KPI Card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90672" y="2404872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Q4: What is the month-over-month revenue growth for store sales?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11312" y="2404872"/>
            <a:ext cx="685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724912"/>
            <a:ext cx="269748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2724912"/>
            <a:ext cx="50292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724912"/>
            <a:ext cx="82296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2779776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Transaction Value KPI Card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90672" y="2779776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Supporting metric: store efficiency analysis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11312" y="2779776"/>
            <a:ext cx="685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099816"/>
            <a:ext cx="26974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3099816"/>
            <a:ext cx="50292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3099816"/>
            <a:ext cx="8229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" y="3154680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Trend &amp; Time Intelligence (Bar+Line)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090672" y="3154680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 ★: How does current revenue compare to the same period last year?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11312" y="3154680"/>
            <a:ext cx="685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YES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3474720"/>
            <a:ext cx="269748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17520" y="3474720"/>
            <a:ext cx="50292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3474720"/>
            <a:ext cx="82296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3529584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by Department (Treemap)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090672" y="3529584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Q1: Which product departments drive the most store revenue?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11312" y="3529584"/>
            <a:ext cx="685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3849624"/>
            <a:ext cx="26974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17520" y="3849624"/>
            <a:ext cx="50292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3849624"/>
            <a:ext cx="8229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" y="3904488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10 Employees Table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090672" y="3904488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Q2: Who are the top 10 revenue-generating store employees?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11312" y="3904488"/>
            <a:ext cx="685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4224528"/>
            <a:ext cx="269748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17520" y="4224528"/>
            <a:ext cx="50292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38160" y="4224528"/>
            <a:ext cx="82296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1752" y="4279392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by Region (Bar Chart)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090672" y="4279392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Q3: How does store revenue vary by geographic region?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211312" y="4279392"/>
            <a:ext cx="685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73647" y="217088"/>
            <a:ext cx="8334853" cy="4657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6279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Page 3 — Online Orders &amp; Fulfillment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Audience: Priya Nair (E-Commerce &amp; Fulfillment Manager) · Cross-schema: No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877824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Purpose: Online channel deep-dive — fulfilment rates, warehouse throughput, top products, payment preferences, and order status breakdown.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1691640"/>
            <a:ext cx="2697480" cy="246888"/>
          </a:xfrm>
          <a:prstGeom prst="rect">
            <a:avLst/>
          </a:prstGeom>
          <a:solidFill>
            <a:srgbClr val="0E4D91"/>
          </a:solidFill>
          <a:ln w="12700">
            <a:solidFill>
              <a:srgbClr val="0E4D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1691640"/>
            <a:ext cx="2606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Visualisation / KPI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1691640"/>
            <a:ext cx="5029200" cy="246888"/>
          </a:xfrm>
          <a:prstGeom prst="rect">
            <a:avLst/>
          </a:prstGeom>
          <a:solidFill>
            <a:srgbClr val="0E4D91"/>
          </a:solidFill>
          <a:ln w="12700">
            <a:solidFill>
              <a:srgbClr val="0E4D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2384" y="1691640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Question Answered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138160" y="1691640"/>
            <a:ext cx="822960" cy="246888"/>
          </a:xfrm>
          <a:prstGeom prst="rect">
            <a:avLst/>
          </a:prstGeom>
          <a:solidFill>
            <a:srgbClr val="0E4D91"/>
          </a:solidFill>
          <a:ln w="12700">
            <a:solidFill>
              <a:srgbClr val="0E4D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1691640"/>
            <a:ext cx="7315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Cross-Schema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1975104"/>
            <a:ext cx="269748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1975104"/>
            <a:ext cx="502920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975104"/>
            <a:ext cx="82296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2020824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Online Revenue KPI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090672" y="2020824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Q3: How does current online revenue track vs. goal?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11312" y="2020824"/>
            <a:ext cx="685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331720"/>
            <a:ext cx="2697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2331720"/>
            <a:ext cx="5029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2331720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2377440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Cancellation Rate KPI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90672" y="2377440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Q5: What proportion of orders are cancelled?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11312" y="2377440"/>
            <a:ext cx="685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688336"/>
            <a:ext cx="269748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2688336"/>
            <a:ext cx="502920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688336"/>
            <a:ext cx="82296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2734056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Orders KPI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90672" y="2734056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fulfillment volume monitoring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11312" y="2734056"/>
            <a:ext cx="685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044952"/>
            <a:ext cx="2697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3044952"/>
            <a:ext cx="5029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3044952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" y="3090672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Delivery Rate KPI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090672" y="3090672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Q1: What is the current online delivery rate vs. goal?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11312" y="3090672"/>
            <a:ext cx="685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3401568"/>
            <a:ext cx="269748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17520" y="3401568"/>
            <a:ext cx="502920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3401568"/>
            <a:ext cx="82296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3447288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by Warehouse (Bar Chart)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090672" y="3447288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Q4: Which warehouses generate the highest online revenue?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11312" y="3447288"/>
            <a:ext cx="685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3758184"/>
            <a:ext cx="2697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17520" y="3758184"/>
            <a:ext cx="5029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3758184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" y="3803904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 by Payment Method (Pie)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090672" y="3803904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Q2: Which payment methods are most popular among online customers?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11312" y="3803904"/>
            <a:ext cx="685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4114800"/>
            <a:ext cx="269748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17520" y="4114800"/>
            <a:ext cx="502920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38160" y="4114800"/>
            <a:ext cx="82296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1752" y="4160520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10 Products Bar Chart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090672" y="4160520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Q3: What are the top 10 products by online revenue?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211312" y="4160520"/>
            <a:ext cx="685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4471416"/>
            <a:ext cx="2697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17520" y="4471416"/>
            <a:ext cx="5029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38160" y="4471416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1752" y="4517136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 by Status (Donut Chart)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090672" y="4517136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Q5: What proportion of orders are cancelled, returned, or pending?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211312" y="4517136"/>
            <a:ext cx="685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73646" y="217088"/>
            <a:ext cx="8334853" cy="4657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5591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Page 4 — Customer &amp; Loyalty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Audience: Morgan Lee (Customer Insights Analyst) · Cross-schema: ★ 2 questions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877824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Purpose: Customer segmentation by loyalty tier, gender, and geography — top-customer identification and average order value analysis.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1691640"/>
            <a:ext cx="2697480" cy="24688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1691640"/>
            <a:ext cx="2606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Visualisation / KPI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1691640"/>
            <a:ext cx="5029200" cy="24688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2384" y="1691640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Question Answered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138160" y="1691640"/>
            <a:ext cx="822960" cy="24688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1691640"/>
            <a:ext cx="7315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Cross-Schema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1975104"/>
            <a:ext cx="269748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1975104"/>
            <a:ext cx="50292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975104"/>
            <a:ext cx="82296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2020824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Customers KPI Card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090672" y="202082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customer base size overview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11312" y="202082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322576"/>
            <a:ext cx="2697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2322576"/>
            <a:ext cx="5029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2322576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2368296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Combined Revenue KPI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90672" y="2368296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 ★: Top customers by combined revenue context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11312" y="2368296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YES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670048"/>
            <a:ext cx="269748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2670048"/>
            <a:ext cx="50292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670048"/>
            <a:ext cx="82296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271576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Revenue Per Customer KPI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90672" y="271576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Q5: Average revenue efficiency across loyalty tiers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11312" y="271576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017520"/>
            <a:ext cx="2697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3017520"/>
            <a:ext cx="5029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3017520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" y="306324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by Loyalty Level (Stacked Bar)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090672" y="3063240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Q2: How is combined revenue distributed across loyalty levels?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11312" y="3063240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3364992"/>
            <a:ext cx="269748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17520" y="3364992"/>
            <a:ext cx="50292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3364992"/>
            <a:ext cx="82296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3410712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Revenue by Gender (Donut)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090672" y="3410712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Q3: What is the revenue split between male and female customers?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11312" y="3410712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3712464"/>
            <a:ext cx="2697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17520" y="3712464"/>
            <a:ext cx="5029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3712464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" y="3758184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Revenue by City (Bubble Map)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090672" y="375818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 ★: Which cities have the highest customer revenue concentration?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11312" y="375818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YES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4059936"/>
            <a:ext cx="269748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17520" y="4059936"/>
            <a:ext cx="50292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38160" y="4059936"/>
            <a:ext cx="82296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1752" y="4105656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10 Customers Table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090672" y="4105656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 ★: Who are the top 10 customers by combined revenue?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211312" y="4105656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YES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4407408"/>
            <a:ext cx="2697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17520" y="4407408"/>
            <a:ext cx="5029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38160" y="4407408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1752" y="445312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Order Value by Loyalty Level (Bar)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090672" y="445312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Q5: How does average order value differ across loyalty tiers?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211312" y="445312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96" y="217088"/>
            <a:ext cx="8263752" cy="4657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2625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Page 5 — Promotions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Audience: Sam Patel (Marketing &amp; Promotions Analyst) · Cross-schema: ★ 1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877824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Purpose: Promotional effectiveness — lift % vs. goal, promo-type revenue, discount-revenue correlation, duration impact, and channel comparison.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1691640"/>
            <a:ext cx="2697480" cy="246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1691640"/>
            <a:ext cx="2606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Visualisation / KPI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1691640"/>
            <a:ext cx="5029200" cy="246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2384" y="1691640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Question Answered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138160" y="1691640"/>
            <a:ext cx="822960" cy="246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1691640"/>
            <a:ext cx="7315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Cross-Schema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1975104"/>
            <a:ext cx="26974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1975104"/>
            <a:ext cx="50292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975104"/>
            <a:ext cx="8229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2039112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Promo Revenue KPI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090672" y="2039112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promo revenue vs. goal overview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11312" y="2039112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359152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2359152"/>
            <a:ext cx="5029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2359152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242316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Promo Lift % KPI Card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90672" y="2423160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Q1: What is the overall promotional lift percentage vs. goal?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11312" y="2423160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743200"/>
            <a:ext cx="26974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2743200"/>
            <a:ext cx="50292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743200"/>
            <a:ext cx="8229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280720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Non-Promo Revenue KPI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90672" y="280720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Supporting baseline for promo effectiveness analysis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11312" y="280720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127248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3127248"/>
            <a:ext cx="5029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3127248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" y="3191256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 % vs Store Revenue (Line)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090672" y="3191256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Q3: How does discount percentage correlate with store revenue?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11312" y="3191256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3511296"/>
            <a:ext cx="26974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17520" y="3511296"/>
            <a:ext cx="50292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3511296"/>
            <a:ext cx="8229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3575304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Promo vs Non-Promo by Channel (Grouped Bar)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090672" y="357530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Q2: Which promotion types generate the most revenue by channel?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11312" y="357530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3895344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17520" y="3895344"/>
            <a:ext cx="5029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3895344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" y="3959352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by Promo Type (Multi-series Bar)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090672" y="3959352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 ★: How does promo revenue compare across store and online channels?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11312" y="3959352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YES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4279392"/>
            <a:ext cx="26974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17520" y="4279392"/>
            <a:ext cx="50292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38160" y="4279392"/>
            <a:ext cx="8229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1752" y="434340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Promo Revenue by Duration Days (Scatter)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090672" y="4343400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Q4: Does promotion duration affect combined promotional revenue?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211312" y="4343400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473646" y="217088"/>
            <a:ext cx="8380904" cy="4657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572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Cross-Schema Business Questions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questions spanning multiple schemas — 24% of all 25 business questions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Cross-schema questions require DAX measures that join data across fact_store_sales AND fact_online_sales (and/or customer / promotions / time schemas). These are the most analytically complex visuals in the dashboard.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365760" cy="24688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2926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463040"/>
            <a:ext cx="4389120" cy="24688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463040"/>
            <a:ext cx="43159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Question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20640" y="1463040"/>
            <a:ext cx="1691640" cy="24688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463040"/>
            <a:ext cx="16184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03720" y="1463040"/>
            <a:ext cx="2011680" cy="24688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463040"/>
            <a:ext cx="193852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Schemas Involved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737360"/>
            <a:ext cx="365760" cy="45720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737360"/>
            <a:ext cx="4389120" cy="45720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1737360"/>
            <a:ext cx="1691640" cy="45720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1737360"/>
            <a:ext cx="2011680" cy="45720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837944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1801368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does total store revenue compare to total online revenue over time?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93792" y="1837944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Alex Chen — Sales Director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976872" y="1837944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Sales + Online Sales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2221992"/>
            <a:ext cx="36576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2221992"/>
            <a:ext cx="438912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2221992"/>
            <a:ext cx="169164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2221992"/>
            <a:ext cx="201168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2322576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228600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 we trending above or below our revenue goals year-to-date?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93792" y="2322576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Alex Chen — Sales Director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76872" y="2322576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Sales + Online Sales + Goals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8600" y="2706624"/>
            <a:ext cx="365760" cy="45720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2706624"/>
            <a:ext cx="4389120" cy="45720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0640" y="2706624"/>
            <a:ext cx="1691640" cy="45720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2706624"/>
            <a:ext cx="2011680" cy="45720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280720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2770632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does current combined revenue compare to the same period last year?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193792" y="2807208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Alex Chen — Sales Director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976872" y="2807208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Sales + Online Sales + Time Intelligence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8600" y="3191256"/>
            <a:ext cx="36576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8368" y="3191256"/>
            <a:ext cx="438912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20640" y="3191256"/>
            <a:ext cx="169164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03720" y="3191256"/>
            <a:ext cx="201168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329184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" y="3255264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are the top 10 customers by combined revenue?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193792" y="329184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Morgan Lee — Customer Insights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76872" y="3291840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+ Store Sales + Online Sales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28600" y="3675888"/>
            <a:ext cx="365760" cy="45720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" y="3675888"/>
            <a:ext cx="4389120" cy="45720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20640" y="3675888"/>
            <a:ext cx="1691640" cy="45720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03720" y="3675888"/>
            <a:ext cx="2011680" cy="45720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" y="377647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" y="3739896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cities have the highest customer revenue concentration?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193792" y="377647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Morgan Lee — Customer Insights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976872" y="3776472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+ Store Sales + Online Sales + Geography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28600" y="4160520"/>
            <a:ext cx="36576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8368" y="4160520"/>
            <a:ext cx="438912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20640" y="4160520"/>
            <a:ext cx="169164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03720" y="4160520"/>
            <a:ext cx="201168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6032" y="4261104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1520" y="4224528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does promo revenue compare across store and online channels?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193792" y="4261104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 Patel — Marketing Analyst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976872" y="4261104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Promotions + Store Sales + Online Sales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1556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🥉 Bronze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115568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tables · Raw ingestion · NVARCHAR · Stored procedure + log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82296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956816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🥈 Silver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956816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tables · Type casting · Cleansing · 5 derived columns · Validation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34056"/>
            <a:ext cx="82296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798064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🥇 Gold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798064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fact tables · 9 dims · 4 conformed · Galaxy schema · FK constraints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82296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63931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Dashboard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3639312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pages · 5 personas · 25 questions · 35+ visuals · 6 cross-schema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2138</Words>
  <Application>Microsoft Office PowerPoint</Application>
  <PresentationFormat>On-screen Show (16:9)</PresentationFormat>
  <Paragraphs>413</Paragraphs>
  <Slides>19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Warehousing Project — PD3 Final Report</dc:title>
  <dc:subject>PptxGenJS Presentation</dc:subject>
  <dc:creator>PptxGenJS</dc:creator>
  <cp:lastModifiedBy>Hazem Adel</cp:lastModifiedBy>
  <cp:revision>7</cp:revision>
  <dcterms:created xsi:type="dcterms:W3CDTF">2026-05-24T21:46:00Z</dcterms:created>
  <dcterms:modified xsi:type="dcterms:W3CDTF">2026-05-25T05:00:32Z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848D03309C1C4FD4B7FFB7E7256F5831_12</vt:lpwstr>
  </property>
  <property fmtid="{D5CDD505-2E9C-101B-9397-08002B2CF9AE}" pid="3" name="KSOProductBuildVer">
    <vt:lpwstr>1033-12.1.0.26372</vt:lpwstr>
  </property>
</Properties>
</file>